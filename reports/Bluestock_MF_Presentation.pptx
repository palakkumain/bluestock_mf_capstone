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Industry Folio Growth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Folios (Cr)</c:v>
                </c:pt>
              </c:strCache>
            </c:strRef>
          </c:tx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13.26</c:v>
                </c:pt>
                <c:pt idx="1">
                  <c:v>17.4</c:v>
                </c:pt>
                <c:pt idx="2">
                  <c:v>22.0</c:v>
                </c:pt>
                <c:pt idx="3">
                  <c:v>26.12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Mutual Fund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42316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CDDCF0"/>
                </a:solidFill>
              </a:defRPr>
            </a:pPr>
            <a:r>
              <a:t>BlueStock Fintech — Capstone Project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41605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Palak Kumain  |  Data Analyst Intern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47548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4C3D7"/>
                </a:solidFill>
              </a:defRPr>
            </a:pPr>
            <a:r>
              <a:t>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037"/>
                </a:solidFill>
              </a:defRPr>
            </a:pPr>
            <a:r>
              <a:t>Problem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A34"/>
                </a:solidFill>
              </a:defRPr>
            </a:pPr>
            <a:r>
              <a:t>• Build an end-to-end analytics workflow for mutual fund, NAV, SIP and investor data.</a:t>
            </a:r>
          </a:p>
          <a:p>
            <a:pPr>
              <a:spcAft>
                <a:spcPts val="1200"/>
              </a:spcAft>
              <a:defRPr sz="1800">
                <a:solidFill>
                  <a:srgbClr val="232A34"/>
                </a:solidFill>
              </a:defRPr>
            </a:pPr>
            <a:r>
              <a:t>• Measure fund performance, risk and risk-adjusted returns across 40 schemes.</a:t>
            </a:r>
          </a:p>
          <a:p>
            <a:pPr>
              <a:spcAft>
                <a:spcPts val="1200"/>
              </a:spcAft>
              <a:defRPr sz="1800">
                <a:solidFill>
                  <a:srgbClr val="232A34"/>
                </a:solidFill>
              </a:defRPr>
            </a:pPr>
            <a:r>
              <a:t>• Understand investor behavior, SIP continuity and portfolio concentration.</a:t>
            </a:r>
          </a:p>
          <a:p>
            <a:pPr>
              <a:spcAft>
                <a:spcPts val="1200"/>
              </a:spcAft>
              <a:defRPr sz="1800">
                <a:solidFill>
                  <a:srgbClr val="232A34"/>
                </a:solidFill>
              </a:defRPr>
            </a:pPr>
            <a:r>
              <a:t>• Translate analysis into an interactive Power BI dashboard and actionable insights.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07D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037"/>
                </a:solidFill>
              </a:defRPr>
            </a:pPr>
            <a:r>
              <a:t>Data Sources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4983480" cy="822960"/>
          </a:xfrm>
          <a:prstGeom prst="roundRect">
            <a:avLst/>
          </a:prstGeom>
          <a:solidFill>
            <a:srgbClr val="F4F7FB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325880"/>
            <a:ext cx="64008" cy="822960"/>
          </a:xfrm>
          <a:prstGeom prst="rect">
            <a:avLst/>
          </a:prstGeom>
          <a:solidFill>
            <a:srgbClr val="2C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53895"/>
            <a:ext cx="4617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6707D"/>
                </a:solidFill>
              </a:defRPr>
            </a:pPr>
            <a:r>
              <a:t>Fund Master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64792"/>
            <a:ext cx="4617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42037"/>
                </a:solidFill>
              </a:defRPr>
            </a:pPr>
            <a:r>
              <a:t>Scheme metadata, categories, risk and expense ratio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377439"/>
            <a:ext cx="4983480" cy="822960"/>
          </a:xfrm>
          <a:prstGeom prst="roundRect">
            <a:avLst/>
          </a:prstGeom>
          <a:solidFill>
            <a:srgbClr val="F4F7FB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377439"/>
            <a:ext cx="64008" cy="822960"/>
          </a:xfrm>
          <a:prstGeom prst="rect">
            <a:avLst/>
          </a:prstGeom>
          <a:solidFill>
            <a:srgbClr val="2E7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505456"/>
            <a:ext cx="4617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6707D"/>
                </a:solidFill>
              </a:defRPr>
            </a:pPr>
            <a:r>
              <a:t>NAV History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16351"/>
            <a:ext cx="4617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42037"/>
                </a:solidFill>
              </a:defRPr>
            </a:pPr>
            <a:r>
              <a:t>Daily NAV observations for 40 schemes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429000"/>
            <a:ext cx="4983480" cy="822960"/>
          </a:xfrm>
          <a:prstGeom prst="roundRect">
            <a:avLst/>
          </a:prstGeom>
          <a:solidFill>
            <a:srgbClr val="F4F7FB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3429000"/>
            <a:ext cx="64008" cy="822960"/>
          </a:xfrm>
          <a:prstGeom prst="rect">
            <a:avLst/>
          </a:prstGeom>
          <a:solidFill>
            <a:srgbClr val="2C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557016"/>
            <a:ext cx="4617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6707D"/>
                </a:solidFill>
              </a:defRPr>
            </a:pPr>
            <a:r>
              <a:t>AUM &amp; SIP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867912"/>
            <a:ext cx="4617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42037"/>
                </a:solidFill>
              </a:defRPr>
            </a:pPr>
            <a:r>
              <a:t>Fund-house AUM and monthly SIP activity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480559"/>
            <a:ext cx="4983480" cy="822960"/>
          </a:xfrm>
          <a:prstGeom prst="roundRect">
            <a:avLst/>
          </a:prstGeom>
          <a:solidFill>
            <a:srgbClr val="F4F7FB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4480559"/>
            <a:ext cx="64008" cy="822960"/>
          </a:xfrm>
          <a:prstGeom prst="rect">
            <a:avLst/>
          </a:prstGeom>
          <a:solidFill>
            <a:srgbClr val="2E7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608575"/>
            <a:ext cx="4617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6707D"/>
                </a:solidFill>
              </a:defRPr>
            </a:pPr>
            <a:r>
              <a:t>Investor Transactions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919471"/>
            <a:ext cx="4617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42037"/>
                </a:solidFill>
              </a:defRPr>
            </a:pPr>
            <a:r>
              <a:t>32,778 transaction records and demographics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1325880"/>
            <a:ext cx="4983480" cy="822960"/>
          </a:xfrm>
          <a:prstGeom prst="roundRect">
            <a:avLst/>
          </a:prstGeom>
          <a:solidFill>
            <a:srgbClr val="F4F7FB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1325880"/>
            <a:ext cx="64008" cy="822960"/>
          </a:xfrm>
          <a:prstGeom prst="rect">
            <a:avLst/>
          </a:prstGeom>
          <a:solidFill>
            <a:srgbClr val="2C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1453895"/>
            <a:ext cx="4617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6707D"/>
                </a:solidFill>
              </a:defRPr>
            </a:pPr>
            <a:r>
              <a:t>Performance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1764792"/>
            <a:ext cx="4617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42037"/>
                </a:solidFill>
              </a:defRPr>
            </a:pPr>
            <a:r>
              <a:t>Returns, Alpha, Beta, Sharpe, Sortino and drawdown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2377439"/>
            <a:ext cx="4983480" cy="822960"/>
          </a:xfrm>
          <a:prstGeom prst="roundRect">
            <a:avLst/>
          </a:prstGeom>
          <a:solidFill>
            <a:srgbClr val="F4F7FB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3640" y="2377439"/>
            <a:ext cx="64008" cy="822960"/>
          </a:xfrm>
          <a:prstGeom prst="rect">
            <a:avLst/>
          </a:prstGeom>
          <a:solidFill>
            <a:srgbClr val="2E7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2505456"/>
            <a:ext cx="4617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6707D"/>
                </a:solidFill>
              </a:defRPr>
            </a:pPr>
            <a:r>
              <a:t>Portfolio Holdings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2816351"/>
            <a:ext cx="4617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42037"/>
                </a:solidFill>
              </a:defRPr>
            </a:pPr>
            <a:r>
              <a:t>322 holdings with sector weights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3429000"/>
            <a:ext cx="4983480" cy="822960"/>
          </a:xfrm>
          <a:prstGeom prst="roundRect">
            <a:avLst/>
          </a:prstGeom>
          <a:solidFill>
            <a:srgbClr val="F4F7FB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63640" y="3429000"/>
            <a:ext cx="64008" cy="822960"/>
          </a:xfrm>
          <a:prstGeom prst="rect">
            <a:avLst/>
          </a:prstGeom>
          <a:solidFill>
            <a:srgbClr val="2C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3557016"/>
            <a:ext cx="4617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6707D"/>
                </a:solidFill>
              </a:defRPr>
            </a:pPr>
            <a:r>
              <a:t>Benchmarks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3867912"/>
            <a:ext cx="4617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42037"/>
                </a:solidFill>
              </a:defRPr>
            </a:pPr>
            <a:r>
              <a:t>Market index history for comparison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789920" y="6510528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07D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037"/>
                </a:solidFill>
              </a:defRPr>
            </a:pPr>
            <a:r>
              <a:t>Analytics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2148840"/>
            <a:ext cx="1600200" cy="1325880"/>
          </a:xfrm>
          <a:prstGeom prst="roundRect">
            <a:avLst/>
          </a:prstGeom>
          <a:solidFill>
            <a:srgbClr val="F4F7FB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542032"/>
            <a:ext cx="1417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2037"/>
                </a:solidFill>
              </a:defRPr>
            </a:pPr>
            <a:r>
              <a:t>Raw Data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221992" y="2633472"/>
            <a:ext cx="274320" cy="320040"/>
          </a:xfrm>
          <a:prstGeom prst="rightArrow">
            <a:avLst/>
          </a:prstGeom>
          <a:solidFill>
            <a:srgbClr val="2C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496312" y="2148840"/>
            <a:ext cx="1600200" cy="1325880"/>
          </a:xfrm>
          <a:prstGeom prst="roundRect">
            <a:avLst/>
          </a:prstGeom>
          <a:solidFill>
            <a:srgbClr val="F4F7FB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87752" y="2542032"/>
            <a:ext cx="1417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2037"/>
                </a:solidFill>
              </a:defRPr>
            </a:pPr>
            <a:r>
              <a:t>ETL &amp; Cleaning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23944" y="2633472"/>
            <a:ext cx="274320" cy="320040"/>
          </a:xfrm>
          <a:prstGeom prst="rightArrow">
            <a:avLst/>
          </a:prstGeom>
          <a:solidFill>
            <a:srgbClr val="2C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98264" y="2148840"/>
            <a:ext cx="1600200" cy="1325880"/>
          </a:xfrm>
          <a:prstGeom prst="roundRect">
            <a:avLst/>
          </a:prstGeom>
          <a:solidFill>
            <a:srgbClr val="F4F7FB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9704" y="2542032"/>
            <a:ext cx="1417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2037"/>
                </a:solidFill>
              </a:defRPr>
            </a:pPr>
            <a:r>
              <a:t>SQLite + SQL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025896" y="2633472"/>
            <a:ext cx="274320" cy="320040"/>
          </a:xfrm>
          <a:prstGeom prst="rightArrow">
            <a:avLst/>
          </a:prstGeom>
          <a:solidFill>
            <a:srgbClr val="2C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0216" y="2148840"/>
            <a:ext cx="1600200" cy="1325880"/>
          </a:xfrm>
          <a:prstGeom prst="roundRect">
            <a:avLst/>
          </a:prstGeom>
          <a:solidFill>
            <a:srgbClr val="F4F7FB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91656" y="2542032"/>
            <a:ext cx="1417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2037"/>
                </a:solidFill>
              </a:defRPr>
            </a:pPr>
            <a:r>
              <a:t>EDA &amp; Metrics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927848" y="2633472"/>
            <a:ext cx="274320" cy="320040"/>
          </a:xfrm>
          <a:prstGeom prst="rightArrow">
            <a:avLst/>
          </a:prstGeom>
          <a:solidFill>
            <a:srgbClr val="2C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02168" y="2148840"/>
            <a:ext cx="1600200" cy="1325880"/>
          </a:xfrm>
          <a:prstGeom prst="roundRect">
            <a:avLst/>
          </a:prstGeom>
          <a:solidFill>
            <a:srgbClr val="F4F7FB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2542032"/>
            <a:ext cx="1417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2037"/>
                </a:solidFill>
              </a:defRPr>
            </a:pPr>
            <a:r>
              <a:t>Power BI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9829800" y="2633472"/>
            <a:ext cx="274320" cy="320040"/>
          </a:xfrm>
          <a:prstGeom prst="rightArrow">
            <a:avLst/>
          </a:prstGeom>
          <a:solidFill>
            <a:srgbClr val="2C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104120" y="2148840"/>
            <a:ext cx="1600200" cy="1325880"/>
          </a:xfrm>
          <a:prstGeom prst="roundRect">
            <a:avLst/>
          </a:prstGeom>
          <a:solidFill>
            <a:srgbClr val="F4F7FB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95560" y="2542032"/>
            <a:ext cx="1417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2037"/>
                </a:solidFill>
              </a:defRPr>
            </a:pPr>
            <a:r>
              <a:t>Advanced Analytics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06908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32A34"/>
                </a:solidFill>
              </a:defRPr>
            </a:pPr>
            <a:r>
              <a:t>• Python + Pandas/NumPy for ETL and analytics</a:t>
            </a:r>
          </a:p>
          <a:p>
            <a:pPr>
              <a:spcAft>
                <a:spcPts val="1200"/>
              </a:spcAft>
              <a:defRPr sz="1500">
                <a:solidFill>
                  <a:srgbClr val="232A34"/>
                </a:solidFill>
              </a:defRPr>
            </a:pPr>
            <a:r>
              <a:t>• SQLite/SQL for structured storage and validation</a:t>
            </a:r>
          </a:p>
          <a:p>
            <a:pPr>
              <a:spcAft>
                <a:spcPts val="1200"/>
              </a:spcAft>
              <a:defRPr sz="1500">
                <a:solidFill>
                  <a:srgbClr val="232A34"/>
                </a:solidFill>
              </a:defRPr>
            </a:pPr>
            <a:r>
              <a:t>• Power BI for interactive business reporting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89920" y="6510528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07D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037"/>
                </a:solidFill>
              </a:defRPr>
            </a:pPr>
            <a:r>
              <a:t>EDA Highlights — Industry &amp; SIP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2468880" cy="1325880"/>
          </a:xfrm>
          <a:prstGeom prst="roundRect">
            <a:avLst/>
          </a:prstGeom>
          <a:solidFill>
            <a:srgbClr val="F4F7FB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325880"/>
            <a:ext cx="64008" cy="1325880"/>
          </a:xfrm>
          <a:prstGeom prst="rect">
            <a:avLst/>
          </a:prstGeom>
          <a:solidFill>
            <a:srgbClr val="2C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53895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6707D"/>
                </a:solidFill>
              </a:defRPr>
            </a:pPr>
            <a:r>
              <a:t>Latest SIP inflow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64792"/>
            <a:ext cx="2103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42037"/>
                </a:solidFill>
              </a:defRPr>
            </a:pPr>
            <a:r>
              <a:t>₹31,002 Cr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21991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707D"/>
                </a:solidFill>
              </a:defRPr>
            </a:pPr>
            <a:r>
              <a:t>December 2025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325880"/>
            <a:ext cx="2468880" cy="1325880"/>
          </a:xfrm>
          <a:prstGeom prst="roundRect">
            <a:avLst/>
          </a:prstGeom>
          <a:solidFill>
            <a:srgbClr val="F4F7FB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3280" y="1325880"/>
            <a:ext cx="64008" cy="1325880"/>
          </a:xfrm>
          <a:prstGeom prst="rect">
            <a:avLst/>
          </a:prstGeom>
          <a:solidFill>
            <a:srgbClr val="2E7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1453895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6707D"/>
                </a:solidFill>
              </a:defRPr>
            </a:pPr>
            <a:r>
              <a:t>Latest folios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1764792"/>
            <a:ext cx="2103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42037"/>
                </a:solidFill>
              </a:defRPr>
            </a:pPr>
            <a:r>
              <a:t>26.12 Cr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221991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707D"/>
                </a:solidFill>
              </a:defRPr>
            </a:pPr>
            <a:r>
              <a:t>December 2025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325880"/>
            <a:ext cx="2468880" cy="1325880"/>
          </a:xfrm>
          <a:prstGeom prst="roundRect">
            <a:avLst/>
          </a:prstGeom>
          <a:solidFill>
            <a:srgbClr val="F4F7FB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80760" y="1325880"/>
            <a:ext cx="64008" cy="1325880"/>
          </a:xfrm>
          <a:prstGeom prst="rect">
            <a:avLst/>
          </a:prstGeom>
          <a:solidFill>
            <a:srgbClr val="DA8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453895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6707D"/>
                </a:solidFill>
              </a:defRPr>
            </a:pPr>
            <a:r>
              <a:t>Latest AUM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1764792"/>
            <a:ext cx="2103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42037"/>
                </a:solidFill>
              </a:defRPr>
            </a:pPr>
            <a:r>
              <a:t>54.47 Lakh Cr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221991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707D"/>
                </a:solidFill>
              </a:defRPr>
            </a:pPr>
            <a:r>
              <a:t>Dataset-derived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78240" y="1325880"/>
            <a:ext cx="2468880" cy="1325880"/>
          </a:xfrm>
          <a:prstGeom prst="roundRect">
            <a:avLst/>
          </a:prstGeom>
          <a:solidFill>
            <a:srgbClr val="F4F7FB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78240" y="1325880"/>
            <a:ext cx="64008" cy="1325880"/>
          </a:xfrm>
          <a:prstGeom prst="rect">
            <a:avLst/>
          </a:prstGeom>
          <a:solidFill>
            <a:srgbClr val="2C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06840" y="1453895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6707D"/>
                </a:solidFill>
              </a:defRPr>
            </a:pPr>
            <a:r>
              <a:t>Schemes analyzed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6840" y="1764792"/>
            <a:ext cx="2103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42037"/>
                </a:solidFill>
              </a:defRPr>
            </a:pPr>
            <a:r>
              <a:t>40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840" y="2221991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707D"/>
                </a:solidFill>
              </a:defRPr>
            </a:pPr>
            <a:r>
              <a:t>Core NAV universe</a:t>
            </a:r>
          </a:p>
        </p:txBody>
      </p:sp>
      <p:graphicFrame>
        <p:nvGraphicFramePr>
          <p:cNvPr id="24" name="Chart 23"/>
          <p:cNvGraphicFramePr>
            <a:graphicFrameLocks noGrp="1"/>
          </p:cNvGraphicFramePr>
          <p:nvPr/>
        </p:nvGraphicFramePr>
        <p:xfrm>
          <a:off x="914400" y="3063240"/>
          <a:ext cx="1024128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Rectangle 24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789920" y="6510528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07D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037"/>
                </a:solidFill>
              </a:defRPr>
            </a:pPr>
            <a:r>
              <a:t>EDA Highlights — Investors &amp; Portfolios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3017520" cy="1325880"/>
          </a:xfrm>
          <a:prstGeom prst="roundRect">
            <a:avLst/>
          </a:prstGeom>
          <a:solidFill>
            <a:srgbClr val="F4F7FB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64008" cy="1325880"/>
          </a:xfrm>
          <a:prstGeom prst="rect">
            <a:avLst/>
          </a:prstGeom>
          <a:solidFill>
            <a:srgbClr val="2C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453895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6707D"/>
                </a:solidFill>
              </a:defRPr>
            </a:pPr>
            <a:r>
              <a:t>Investor transactions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764792"/>
            <a:ext cx="2651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42037"/>
                </a:solidFill>
              </a:defRPr>
            </a:pPr>
            <a:r>
              <a:t>32,778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21991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707D"/>
                </a:solidFill>
              </a:defRPr>
            </a:pPr>
            <a:r>
              <a:t>Transaction records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77639" y="1325880"/>
            <a:ext cx="3017520" cy="1325880"/>
          </a:xfrm>
          <a:prstGeom prst="roundRect">
            <a:avLst/>
          </a:prstGeom>
          <a:solidFill>
            <a:srgbClr val="F4F7FB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977639" y="1325880"/>
            <a:ext cx="64008" cy="1325880"/>
          </a:xfrm>
          <a:prstGeom prst="rect">
            <a:avLst/>
          </a:prstGeom>
          <a:solidFill>
            <a:srgbClr val="2E7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0" y="1453895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6707D"/>
                </a:solidFill>
              </a:defRPr>
            </a:pPr>
            <a:r>
              <a:t>SIP transactions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1764792"/>
            <a:ext cx="2651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42037"/>
                </a:solidFill>
              </a:defRPr>
            </a:pPr>
            <a:r>
              <a:t>19,716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221991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707D"/>
                </a:solidFill>
              </a:defRPr>
            </a:pPr>
            <a:r>
              <a:t>Across 4,762 investors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3760" y="1325880"/>
            <a:ext cx="3017520" cy="1325880"/>
          </a:xfrm>
          <a:prstGeom prst="roundRect">
            <a:avLst/>
          </a:prstGeom>
          <a:solidFill>
            <a:srgbClr val="F4F7FB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223760" y="1325880"/>
            <a:ext cx="64008" cy="1325880"/>
          </a:xfrm>
          <a:prstGeom prst="rect">
            <a:avLst/>
          </a:prstGeom>
          <a:solidFill>
            <a:srgbClr val="DA8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52360" y="1453895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6707D"/>
                </a:solidFill>
              </a:defRPr>
            </a:pPr>
            <a:r>
              <a:t>Portfolio holdings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1764792"/>
            <a:ext cx="2651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42037"/>
                </a:solidFill>
              </a:defRPr>
            </a:pPr>
            <a:r>
              <a:t>322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2221991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707D"/>
                </a:solidFill>
              </a:defRPr>
            </a:pPr>
            <a:r>
              <a:t>Across 34 funds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063240"/>
            <a:ext cx="102412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32A34"/>
                </a:solidFill>
              </a:defRPr>
            </a:pPr>
            <a:r>
              <a:t>• The 26–35 age group is the largest investor segment in the analyzed transaction data.</a:t>
            </a:r>
          </a:p>
          <a:p>
            <a:pPr>
              <a:spcAft>
                <a:spcPts val="1200"/>
              </a:spcAft>
              <a:defRPr sz="1600">
                <a:solidFill>
                  <a:srgbClr val="232A34"/>
                </a:solidFill>
              </a:defRPr>
            </a:pPr>
            <a:r>
              <a:t>• Investor activity varies across states and city tiers, highlighting geographic differences.</a:t>
            </a:r>
          </a:p>
          <a:p>
            <a:pPr>
              <a:spcAft>
                <a:spcPts val="1200"/>
              </a:spcAft>
              <a:defRPr sz="1600">
                <a:solidFill>
                  <a:srgbClr val="232A34"/>
                </a:solidFill>
              </a:defRPr>
            </a:pPr>
            <a:r>
              <a:t>• Sector-level holding analysis shows concentration differences across funds.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0" y="6510528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07D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037"/>
                </a:solidFill>
              </a:defRPr>
            </a:pPr>
            <a:r>
              <a:t>Performance Metrics — Risk &amp; Return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6400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32A34"/>
                </a:solidFill>
              </a:defRPr>
            </a:pPr>
            <a:r>
              <a:t>• Evaluated 1-year, 3-year and 5-year returns against benchmark performance.</a:t>
            </a:r>
          </a:p>
          <a:p>
            <a:pPr>
              <a:spcAft>
                <a:spcPts val="1200"/>
              </a:spcAft>
              <a:defRPr sz="1600">
                <a:solidFill>
                  <a:srgbClr val="232A34"/>
                </a:solidFill>
              </a:defRPr>
            </a:pPr>
            <a:r>
              <a:t>• Analyzed Alpha, Beta, Sharpe ratio, Sortino ratio, annualized standard deviation and maximum drawdown.</a:t>
            </a:r>
          </a:p>
          <a:p>
            <a:pPr>
              <a:spcAft>
                <a:spcPts val="1200"/>
              </a:spcAft>
              <a:defRPr sz="1600">
                <a:solidFill>
                  <a:srgbClr val="232A34"/>
                </a:solidFill>
              </a:defRPr>
            </a:pPr>
            <a:r>
              <a:t>• Computed Historical 95% VaR and CVaR for all 40 schemes using daily NAV returns.</a:t>
            </a:r>
          </a:p>
          <a:p>
            <a:pPr>
              <a:spcAft>
                <a:spcPts val="1200"/>
              </a:spcAft>
              <a:defRPr sz="1600">
                <a:solidFill>
                  <a:srgbClr val="232A34"/>
                </a:solidFill>
              </a:defRPr>
            </a:pPr>
            <a:r>
              <a:t>• Used rolling 90-day Sharpe to examine changes in risk-adjusted performance over time.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43800" y="1463040"/>
            <a:ext cx="3291840" cy="1280160"/>
          </a:xfrm>
          <a:prstGeom prst="roundRect">
            <a:avLst/>
          </a:prstGeom>
          <a:solidFill>
            <a:srgbClr val="F4F7FB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543800" y="1463040"/>
            <a:ext cx="64008" cy="1280160"/>
          </a:xfrm>
          <a:prstGeom prst="rect">
            <a:avLst/>
          </a:prstGeom>
          <a:solidFill>
            <a:srgbClr val="2C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591056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6707D"/>
                </a:solidFill>
              </a:defRPr>
            </a:pPr>
            <a:r>
              <a:t>VaR / CVaR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901952"/>
            <a:ext cx="2926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42037"/>
                </a:solidFill>
              </a:defRPr>
            </a:pPr>
            <a:r>
              <a:t>40 schemes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359152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707D"/>
                </a:solidFill>
              </a:defRPr>
            </a:pPr>
            <a:r>
              <a:t>Historical 95%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3017520"/>
            <a:ext cx="3291840" cy="1280160"/>
          </a:xfrm>
          <a:prstGeom prst="roundRect">
            <a:avLst/>
          </a:prstGeom>
          <a:solidFill>
            <a:srgbClr val="F4F7FB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43800" y="3017520"/>
            <a:ext cx="64008" cy="1280160"/>
          </a:xfrm>
          <a:prstGeom prst="rect">
            <a:avLst/>
          </a:prstGeom>
          <a:solidFill>
            <a:srgbClr val="2E7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3145536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6707D"/>
                </a:solidFill>
              </a:defRPr>
            </a:pPr>
            <a:r>
              <a:t>Rolling Sharpe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456432"/>
            <a:ext cx="2926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42037"/>
                </a:solidFill>
              </a:defRPr>
            </a:pPr>
            <a:r>
              <a:t>5 funds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3913631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707D"/>
                </a:solidFill>
              </a:defRPr>
            </a:pPr>
            <a:r>
              <a:t>90-day window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43800" y="4572000"/>
            <a:ext cx="3291840" cy="914400"/>
          </a:xfrm>
          <a:prstGeom prst="roundRect">
            <a:avLst/>
          </a:prstGeom>
          <a:solidFill>
            <a:srgbClr val="F4F7FB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43800" y="4572000"/>
            <a:ext cx="64008" cy="914400"/>
          </a:xfrm>
          <a:prstGeom prst="rect">
            <a:avLst/>
          </a:prstGeom>
          <a:solidFill>
            <a:srgbClr val="DA8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4700016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6707D"/>
                </a:solidFill>
              </a:defRPr>
            </a:pPr>
            <a:r>
              <a:t>Core metrics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5010912"/>
            <a:ext cx="2926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42037"/>
                </a:solidFill>
              </a:defRPr>
            </a:pPr>
            <a:r>
              <a:t>Alpha • Beta • Sharpe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0" y="6510528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07D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037"/>
                </a:solidFill>
              </a:defRPr>
            </a:pPr>
            <a:r>
              <a:t>Performance Metrics — Advanced Analytics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667512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463040"/>
                <a:gridCol w="1554480"/>
              </a:tblGrid>
              <a:tr h="56388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Fund</a:t>
                      </a:r>
                    </a:p>
                  </a:txBody>
                  <a:tcPr>
                    <a:solidFill>
                      <a:srgbClr val="1420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Risk group</a:t>
                      </a:r>
                    </a:p>
                  </a:txBody>
                  <a:tcPr>
                    <a:solidFill>
                      <a:srgbClr val="1420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Sharpe</a:t>
                      </a:r>
                    </a:p>
                  </a:txBody>
                  <a:tcPr>
                    <a:solidFill>
                      <a:srgbClr val="142037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A34"/>
                          </a:solidFill>
                        </a:defRPr>
                      </a:pPr>
                      <a:r>
                        <a:t>HDFC Top 100 Fund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A34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A34"/>
                          </a:solidFill>
                        </a:defRPr>
                      </a:pPr>
                      <a:r>
                        <a:t>1.06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A34"/>
                          </a:solidFill>
                        </a:defRPr>
                      </a:pPr>
                      <a:r>
                        <a:t>Mirae Asset Large Cap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A34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A34"/>
                          </a:solidFill>
                        </a:defRPr>
                      </a:pPr>
                      <a:r>
                        <a:t>1.06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A34"/>
                          </a:solidFill>
                        </a:defRPr>
                      </a:pPr>
                      <a:r>
                        <a:t>ICICI Pru Bluechip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A34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A34"/>
                          </a:solidFill>
                        </a:defRPr>
                      </a:pPr>
                      <a:r>
                        <a:t>1.03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A34"/>
                          </a:solidFill>
                        </a:defRPr>
                      </a:pPr>
                      <a:r>
                        <a:t>ICICI Pru Liquid Fund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A34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A34"/>
                          </a:solidFill>
                        </a:defRPr>
                      </a:pPr>
                      <a:r>
                        <a:t>7.68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A34"/>
                          </a:solidFill>
                        </a:defRPr>
                      </a:pPr>
                      <a:r>
                        <a:t>Kotak Liquid Fund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A34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A34"/>
                          </a:solidFill>
                        </a:defRPr>
                      </a:pPr>
                      <a:r>
                        <a:t>6.18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26679" y="155448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232A34"/>
                </a:solidFill>
              </a:defRPr>
            </a:pPr>
            <a:r>
              <a:t>• A simple recommender ranks funds by Sharpe ratio within mapped risk groups.</a:t>
            </a:r>
          </a:p>
          <a:p>
            <a:pPr>
              <a:spcAft>
                <a:spcPts val="1200"/>
              </a:spcAft>
              <a:defRPr sz="1400">
                <a:solidFill>
                  <a:srgbClr val="232A34"/>
                </a:solidFill>
              </a:defRPr>
            </a:pPr>
            <a:r>
              <a:t>• HHI analysis identifies higher portfolio concentration; Axis Bluechip recorded HHI ≈ 2064.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07D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037"/>
                </a:solidFill>
              </a:defRPr>
            </a:pPr>
            <a:r>
              <a:t>Dashboard — Industry Overview &amp; Fund Performance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5349240" cy="4480560"/>
          </a:xfrm>
          <a:prstGeom prst="roundRect">
            <a:avLst/>
          </a:prstGeom>
          <a:solidFill>
            <a:srgbClr val="F4F7FB"/>
          </a:solidFill>
          <a:ln>
            <a:solidFill>
              <a:srgbClr val="BEC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48920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900" b="1">
                <a:solidFill>
                  <a:srgbClr val="142037"/>
                </a:solidFill>
              </a:defRPr>
            </a:pPr>
            <a:r>
              <a:t>Industry Overview</a:t>
            </a:r>
          </a:p>
          <a:p>
            <a:pPr algn="ctr">
              <a:defRPr sz="1000">
                <a:solidFill>
                  <a:srgbClr val="66707D"/>
                </a:solidFill>
              </a:defRPr>
            </a:pPr>
            <a:r>
              <a:t>Replace this placeholder with the Power BI screenshot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325880"/>
            <a:ext cx="5349240" cy="4480560"/>
          </a:xfrm>
          <a:prstGeom prst="roundRect">
            <a:avLst/>
          </a:prstGeom>
          <a:solidFill>
            <a:srgbClr val="F4F7FB"/>
          </a:solidFill>
          <a:ln>
            <a:solidFill>
              <a:srgbClr val="BEC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3291840"/>
            <a:ext cx="48920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900" b="1">
                <a:solidFill>
                  <a:srgbClr val="142037"/>
                </a:solidFill>
              </a:defRPr>
            </a:pPr>
            <a:r>
              <a:t>Fund Performance</a:t>
            </a:r>
          </a:p>
          <a:p>
            <a:pPr algn="ctr">
              <a:defRPr sz="1000">
                <a:solidFill>
                  <a:srgbClr val="66707D"/>
                </a:solidFill>
              </a:defRPr>
            </a:pPr>
            <a:r>
              <a:t>Replace this placeholder with the Power BI screenshot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0" y="6510528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07D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037"/>
                </a:solidFill>
              </a:defRPr>
            </a:pPr>
            <a:r>
              <a:t>Dashboard — Investor &amp; SIP Analytics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5349240" cy="4480560"/>
          </a:xfrm>
          <a:prstGeom prst="roundRect">
            <a:avLst/>
          </a:prstGeom>
          <a:solidFill>
            <a:srgbClr val="F4F7FB"/>
          </a:solidFill>
          <a:ln>
            <a:solidFill>
              <a:srgbClr val="BEC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48920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900" b="1">
                <a:solidFill>
                  <a:srgbClr val="142037"/>
                </a:solidFill>
              </a:defRPr>
            </a:pPr>
            <a:r>
              <a:t>Investor Analytics</a:t>
            </a:r>
          </a:p>
          <a:p>
            <a:pPr algn="ctr">
              <a:defRPr sz="1000">
                <a:solidFill>
                  <a:srgbClr val="66707D"/>
                </a:solidFill>
              </a:defRPr>
            </a:pPr>
            <a:r>
              <a:t>Replace this placeholder with the Power BI screenshot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325880"/>
            <a:ext cx="5349240" cy="4480560"/>
          </a:xfrm>
          <a:prstGeom prst="roundRect">
            <a:avLst/>
          </a:prstGeom>
          <a:solidFill>
            <a:srgbClr val="F4F7FB"/>
          </a:solidFill>
          <a:ln>
            <a:solidFill>
              <a:srgbClr val="BEC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3291840"/>
            <a:ext cx="48920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900" b="1">
                <a:solidFill>
                  <a:srgbClr val="142037"/>
                </a:solidFill>
              </a:defRPr>
            </a:pPr>
            <a:r>
              <a:t>SIP &amp; Market Trends</a:t>
            </a:r>
          </a:p>
          <a:p>
            <a:pPr algn="ctr">
              <a:defRPr sz="1000">
                <a:solidFill>
                  <a:srgbClr val="66707D"/>
                </a:solidFill>
              </a:defRPr>
            </a:pPr>
            <a:r>
              <a:t>Replace this placeholder with the Power BI screenshot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0" y="6510528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07D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037"/>
                </a:solidFill>
              </a:defRPr>
            </a:pPr>
            <a:r>
              <a:t>Key Findings &amp;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32A34"/>
                </a:solidFill>
              </a:defRPr>
            </a:pPr>
            <a:r>
              <a:t>• SIP inflows reached approximately ₹31,002 crore in December 2025, reflecting strong investor participation.</a:t>
            </a:r>
          </a:p>
          <a:p>
            <a:pPr>
              <a:spcAft>
                <a:spcPts val="1200"/>
              </a:spcAft>
              <a:defRPr sz="1600">
                <a:solidFill>
                  <a:srgbClr val="232A34"/>
                </a:solidFill>
              </a:defRPr>
            </a:pPr>
            <a:r>
              <a:t>• Folio count increased substantially across the analyzed period, reaching 26.12 crore by December 2025.</a:t>
            </a:r>
          </a:p>
          <a:p>
            <a:pPr>
              <a:spcAft>
                <a:spcPts val="1200"/>
              </a:spcAft>
              <a:defRPr sz="1600">
                <a:solidFill>
                  <a:srgbClr val="232A34"/>
                </a:solidFill>
              </a:defRPr>
            </a:pPr>
            <a:r>
              <a:t>• Risk-adjusted performance varies materially across funds; return alone is not sufficient for comparison.</a:t>
            </a:r>
          </a:p>
          <a:p>
            <a:pPr>
              <a:spcAft>
                <a:spcPts val="1200"/>
              </a:spcAft>
              <a:defRPr sz="1600">
                <a:solidFill>
                  <a:srgbClr val="232A34"/>
                </a:solidFill>
              </a:defRPr>
            </a:pPr>
            <a:r>
              <a:t>• Among 1,362 investors with sufficient SIP history, 1,332 were classified At-Risk using the average-gap rule.</a:t>
            </a:r>
          </a:p>
          <a:p>
            <a:pPr>
              <a:spcAft>
                <a:spcPts val="1200"/>
              </a:spcAft>
              <a:defRPr sz="1600">
                <a:solidFill>
                  <a:srgbClr val="232A34"/>
                </a:solidFill>
              </a:defRPr>
            </a:pPr>
            <a:r>
              <a:t>• Evaluate schemes using risk-adjusted returns, diversification and concentration together.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07D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63240"/>
            <a:ext cx="9418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CDDCF0"/>
                </a:solidFill>
              </a:defRPr>
            </a:pPr>
            <a:r>
              <a:t>Mutual Fund Analytics — BlueStock Fintech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069080"/>
            <a:ext cx="8503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Palak Kumain  |  Data Analyst Intern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